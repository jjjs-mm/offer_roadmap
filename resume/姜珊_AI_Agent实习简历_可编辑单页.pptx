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0a424932204292" /><Relationship Type="http://schemas.openxmlformats.org/officeDocument/2006/relationships/extended-properties" Target="/docProps/app.xml" Id="Rbcefc18758544aa4" /><Relationship Type="http://schemas.openxmlformats.org/officeDocument/2006/relationships/officeDocument" Target="/ppt/presentation.xml" Id="R46b801c9be63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d542b7a1cc4847"/>
  </p:sldMasterIdLst>
  <p:notesMasterIdLst>
    <p:notesMasterId xmlns:r="http://schemas.openxmlformats.org/officeDocument/2006/relationships" r:id="R0fef4f966ceb41b5"/>
  </p:notesMasterIdLst>
  <p:sldIdLst>
    <p:sldId xmlns:r="http://schemas.openxmlformats.org/officeDocument/2006/relationships" id="256" r:id="R055fc141aff24858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62304f1df40da" /><Relationship Type="http://schemas.openxmlformats.org/officeDocument/2006/relationships/slideMaster" Target="/ppt/slideMasters/slideMaster1.xml" Id="R18d542b7a1cc4847" /><Relationship Type="http://schemas.openxmlformats.org/officeDocument/2006/relationships/notesMaster" Target="/ppt/notesMasters/notesMaster1.xml" Id="R0fef4f966ceb41b5" /><Relationship Type="http://schemas.openxmlformats.org/officeDocument/2006/relationships/presProps" Target="/ppt/presProps.xml" Id="Rff721ec5a37e4b05" /><Relationship Type="http://schemas.openxmlformats.org/officeDocument/2006/relationships/tableStyles" Target="/ppt/tableStyles.xml" Id="R15c4b155868f43de" /><Relationship Type="http://schemas.openxmlformats.org/officeDocument/2006/relationships/slide" Target="/ppt/slides/slide1.xml" Id="R055fc141aff2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efd1e23ac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71b29d6f1479e" /><Relationship Type="http://schemas.openxmlformats.org/officeDocument/2006/relationships/notesMaster" Target="/ppt/notesMasters/notesMaster1.xml" Id="R21632412a00f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d6b3f81d94d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750d86a3749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8f170e1374a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cfd3e5c9045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da279814743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6d6e6e56440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71B32-D096-47C6-B75A-E2BC19C99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6285" y="4040928"/>
            <a:ext cx="6050280" cy="1545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E3D3DE-0D8E-42C6-B5CD-4ED6523D18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34428" y="5883116"/>
            <a:ext cx="5293995" cy="1188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62507F-7C17-4010-A5E4-67CAB4E73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6285" y="4456906"/>
            <a:ext cx="6050280" cy="1782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958E56-2D64-4A75-AC21-380D9D404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410" y="831956"/>
            <a:ext cx="6712029" cy="1307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B8E47A-FF28-42F2-9778-54D661D3F0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410" y="2971271"/>
            <a:ext cx="6712029" cy="665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80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875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946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9017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8088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7160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6231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5302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437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D5EB53-2E61-4EFC-9C61-B49C9ABD2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410" y="831956"/>
            <a:ext cx="6712029" cy="1307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D33553-AD36-4B9E-B954-44855EECB3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410" y="2971271"/>
            <a:ext cx="3119676" cy="665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80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875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946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9017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8088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7160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6231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5302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437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693749-B74A-428B-A542-DE8DDD444C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17764" y="2971271"/>
            <a:ext cx="3119676" cy="665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80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875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946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9017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8088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7160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6231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5302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437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EA45F-B682-4290-B9B5-22EC4DA5A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410" y="831956"/>
            <a:ext cx="6712029" cy="1307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774D23-33C2-4FEB-8D92-7095DC005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410" y="2971271"/>
            <a:ext cx="3119676" cy="6655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80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875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946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9017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8088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7160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6231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5302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4373" indent="-141803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466ddcc8ec43aa" /><Relationship Type="http://schemas.openxmlformats.org/officeDocument/2006/relationships/slideLayout" Target="/ppt/slideLayouts/slideLayout1.xml" Id="Ra6ffddb7b14e477b" /><Relationship Type="http://schemas.openxmlformats.org/officeDocument/2006/relationships/slideLayout" Target="/ppt/slideLayouts/slideLayout2.xml" Id="R9efd4fc52b204646" /><Relationship Type="http://schemas.openxmlformats.org/officeDocument/2006/relationships/slideLayout" Target="/ppt/slideLayouts/slideLayout3.xml" Id="Rf81f2e11842c4adc" /><Relationship Type="http://schemas.openxmlformats.org/officeDocument/2006/relationships/slideLayout" Target="/ppt/slideLayouts/slideLayout4.xml" Id="Ra081e10d14674b40" /><Relationship Type="http://schemas.openxmlformats.org/officeDocument/2006/relationships/slideLayout" Target="/ppt/slideLayouts/slideLayout5.xml" Id="Ra958708b2e02474a" /><Relationship Type="http://schemas.openxmlformats.org/officeDocument/2006/relationships/slideLayout" Target="/ppt/slideLayouts/slideLayout6.xml" Id="Rc5f37ef7ddcf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fddb7b14e477b"/>
    <p:sldLayoutId xmlns:r="http://schemas.openxmlformats.org/officeDocument/2006/relationships" id="2147483650" r:id="R9efd4fc52b204646"/>
    <p:sldLayoutId xmlns:r="http://schemas.openxmlformats.org/officeDocument/2006/relationships" id="2147483651" r:id="Rf81f2e11842c4adc"/>
    <p:sldLayoutId xmlns:r="http://schemas.openxmlformats.org/officeDocument/2006/relationships" id="2147483652" r:id="Ra081e10d14674b40"/>
    <p:sldLayoutId xmlns:r="http://schemas.openxmlformats.org/officeDocument/2006/relationships" id="2147483653" r:id="Ra958708b2e02474a"/>
    <p:sldLayoutId xmlns:r="http://schemas.openxmlformats.org/officeDocument/2006/relationships" id="2147483654" r:id="Rc5f37ef7ddcf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380c1572e4499" /><Relationship Type="http://schemas.openxmlformats.org/officeDocument/2006/relationships/notesSlide" Target="/ppt/notesSlides/notesSlide1.xml" Id="R1b15545e550b46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name">
            <a:extLst xmlns:a="http://schemas.openxmlformats.org/drawingml/2006/main">
              <a:ext uri="{FF2B5EF4-FFF2-40B4-BE49-F238E27FC236}">
                <a16:creationId xmlns:a16="http://schemas.microsoft.com/office/drawing/2014/main" id="{5FE6F81A-8B76-4619-8546-7A8136CC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202124"/>
                </a:solidFill>
              </a:defRPr>
            </a:defPPr>
            <a:lvl1pPr algn="ctr">
              <a:defRPr sz="2025" b="1">
                <a:solidFill>
                  <a:srgbClr val="202124"/>
                </a:solidFill>
              </a:defRPr>
            </a:lvl1pPr>
            <a:lvl2pPr algn="ctr">
              <a:defRPr sz="2025" b="1">
                <a:solidFill>
                  <a:srgbClr val="202124"/>
                </a:solidFill>
              </a:defRPr>
            </a:lvl2pPr>
            <a:lvl3pPr algn="ctr">
              <a:defRPr sz="2025" b="1">
                <a:solidFill>
                  <a:srgbClr val="202124"/>
                </a:solidFill>
              </a:defRPr>
            </a:lvl3pPr>
            <a:lvl4pPr algn="ctr">
              <a:defRPr sz="2025" b="1">
                <a:solidFill>
                  <a:srgbClr val="202124"/>
                </a:solidFill>
              </a:defRPr>
            </a:lvl4pPr>
            <a:lvl5pPr algn="ctr">
              <a:defRPr sz="2025" b="1">
                <a:solidFill>
                  <a:srgbClr val="202124"/>
                </a:solidFill>
              </a:defRPr>
            </a:lvl5pPr>
            <a:lvl6pPr algn="ctr">
              <a:defRPr sz="2025" b="1">
                <a:solidFill>
                  <a:srgbClr val="202124"/>
                </a:solidFill>
              </a:defRPr>
            </a:lvl6pPr>
            <a:lvl7pPr algn="ctr">
              <a:defRPr sz="2025" b="1">
                <a:solidFill>
                  <a:srgbClr val="202124"/>
                </a:solidFill>
              </a:defRPr>
            </a:lvl7pPr>
            <a:lvl8pPr algn="ctr">
              <a:defRPr sz="2025" b="1">
                <a:solidFill>
                  <a:srgbClr val="202124"/>
                </a:solidFill>
              </a:defRPr>
            </a:lvl8pPr>
            <a:lvl9pPr algn="ctr">
              <a:defRPr sz="2025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124"/>
                </a:solidFill>
              </a:defRPr>
            </a:pPr>
            <a:r>
              <a:rPr sz="2025" b="1">
                <a:solidFill>
                  <a:srgbClr val="202124"/>
                </a:solidFill>
              </a:rPr>
              <a:t>姜珊</a:t>
            </a:r>
          </a:p>
        </p:txBody>
      </p:sp>
      <p:sp>
        <p:nvSpPr>
          <p:cNvPr id="2" name="contacts">
            <a:extLst xmlns:a="http://schemas.openxmlformats.org/drawingml/2006/main">
              <a:ext uri="{FF2B5EF4-FFF2-40B4-BE49-F238E27FC236}">
                <a16:creationId xmlns:a16="http://schemas.microsoft.com/office/drawing/2014/main" id="{38ED2693-BB54-48E1-B2C1-94069117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8175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38" b="0">
                <a:solidFill>
                  <a:srgbClr val="5F6368"/>
                </a:solidFill>
              </a:defRPr>
            </a:defPPr>
            <a:lvl1pPr algn="ctr">
              <a:defRPr sz="938" b="0">
                <a:solidFill>
                  <a:srgbClr val="5F6368"/>
                </a:solidFill>
              </a:defRPr>
            </a:lvl1pPr>
            <a:lvl2pPr algn="ctr">
              <a:defRPr sz="938" b="0">
                <a:solidFill>
                  <a:srgbClr val="5F6368"/>
                </a:solidFill>
              </a:defRPr>
            </a:lvl2pPr>
            <a:lvl3pPr algn="ctr">
              <a:defRPr sz="938" b="0">
                <a:solidFill>
                  <a:srgbClr val="5F6368"/>
                </a:solidFill>
              </a:defRPr>
            </a:lvl3pPr>
            <a:lvl4pPr algn="ctr">
              <a:defRPr sz="938" b="0">
                <a:solidFill>
                  <a:srgbClr val="5F6368"/>
                </a:solidFill>
              </a:defRPr>
            </a:lvl4pPr>
            <a:lvl5pPr algn="ctr">
              <a:defRPr sz="938" b="0">
                <a:solidFill>
                  <a:srgbClr val="5F6368"/>
                </a:solidFill>
              </a:defRPr>
            </a:lvl5pPr>
            <a:lvl6pPr algn="ctr">
              <a:defRPr sz="938" b="0">
                <a:solidFill>
                  <a:srgbClr val="5F6368"/>
                </a:solidFill>
              </a:defRPr>
            </a:lvl6pPr>
            <a:lvl7pPr algn="ctr">
              <a:defRPr sz="938" b="0">
                <a:solidFill>
                  <a:srgbClr val="5F6368"/>
                </a:solidFill>
              </a:defRPr>
            </a:lvl7pPr>
            <a:lvl8pPr algn="ctr">
              <a:defRPr sz="938" b="0">
                <a:solidFill>
                  <a:srgbClr val="5F6368"/>
                </a:solidFill>
              </a:defRPr>
            </a:lvl8pPr>
            <a:lvl9pPr algn="ctr">
              <a:defRPr sz="938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5F6368"/>
                </a:solidFill>
              </a:defRPr>
            </a:pPr>
            <a:r>
              <a:rPr sz="938" b="0">
                <a:solidFill>
                  <a:srgbClr val="5F6368"/>
                </a:solidFill>
              </a:rPr>
              <a:t>[手机号]   |   [邮箱]   |   [GitHub]</a:t>
            </a:r>
          </a:p>
        </p:txBody>
      </p:sp>
      <p:sp>
        <p:nvSpPr>
          <p:cNvPr id="3" name="target">
            <a:extLst xmlns:a="http://schemas.openxmlformats.org/drawingml/2006/main">
              <a:ext uri="{FF2B5EF4-FFF2-40B4-BE49-F238E27FC236}">
                <a16:creationId xmlns:a16="http://schemas.microsoft.com/office/drawing/2014/main" id="{0D1D3F21-FA53-473A-9CA8-E795BBD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6300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38" b="0">
                <a:solidFill>
                  <a:srgbClr val="202124"/>
                </a:solidFill>
              </a:defRPr>
            </a:defPPr>
            <a:lvl1pPr algn="ctr">
              <a:defRPr sz="938" b="0">
                <a:solidFill>
                  <a:srgbClr val="202124"/>
                </a:solidFill>
              </a:defRPr>
            </a:lvl1pPr>
            <a:lvl2pPr algn="ctr">
              <a:defRPr sz="938" b="0">
                <a:solidFill>
                  <a:srgbClr val="202124"/>
                </a:solidFill>
              </a:defRPr>
            </a:lvl2pPr>
            <a:lvl3pPr algn="ctr">
              <a:defRPr sz="938" b="0">
                <a:solidFill>
                  <a:srgbClr val="202124"/>
                </a:solidFill>
              </a:defRPr>
            </a:lvl3pPr>
            <a:lvl4pPr algn="ctr">
              <a:defRPr sz="938" b="0">
                <a:solidFill>
                  <a:srgbClr val="202124"/>
                </a:solidFill>
              </a:defRPr>
            </a:lvl4pPr>
            <a:lvl5pPr algn="ctr">
              <a:defRPr sz="938" b="0">
                <a:solidFill>
                  <a:srgbClr val="202124"/>
                </a:solidFill>
              </a:defRPr>
            </a:lvl5pPr>
            <a:lvl6pPr algn="ctr">
              <a:defRPr sz="938" b="0">
                <a:solidFill>
                  <a:srgbClr val="202124"/>
                </a:solidFill>
              </a:defRPr>
            </a:lvl6pPr>
            <a:lvl7pPr algn="ctr">
              <a:defRPr sz="938" b="0">
                <a:solidFill>
                  <a:srgbClr val="202124"/>
                </a:solidFill>
              </a:defRPr>
            </a:lvl7pPr>
            <a:lvl8pPr algn="ctr">
              <a:defRPr sz="938" b="0">
                <a:solidFill>
                  <a:srgbClr val="202124"/>
                </a:solidFill>
              </a:defRPr>
            </a:lvl8pPr>
            <a:lvl9pPr algn="ctr">
              <a:defRPr sz="938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ctr">
              <a:defRPr sz="938" b="0">
                <a:solidFill>
                  <a:srgbClr val="202124"/>
                </a:solidFill>
              </a:defRPr>
            </a:pPr>
            <a:r>
              <a:rPr sz="938" b="0">
                <a:solidFill>
                  <a:srgbClr val="202124"/>
                </a:solidFill>
              </a:rPr>
              <a:t>求职方向  AI Agent 开发实习生 / RAG 应用实习生 / Python 后端实习生</a:t>
            </a:r>
          </a:p>
        </p:txBody>
      </p:sp>
      <p:sp>
        <p:nvSpPr>
          <p:cNvPr id="4" name="section-教育背景">
            <a:extLst xmlns:a="http://schemas.openxmlformats.org/drawingml/2006/main">
              <a:ext uri="{FF2B5EF4-FFF2-40B4-BE49-F238E27FC236}">
                <a16:creationId xmlns:a16="http://schemas.microsoft.com/office/drawing/2014/main" id="{69BEB35B-8D5C-41FF-9DCC-44C119E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教育背景</a:t>
            </a:r>
          </a:p>
        </p:txBody>
      </p:sp>
      <p:sp>
        <p:nvSpPr>
          <p:cNvPr id="5" name="rule-教育背景">
            <a:extLst xmlns:a="http://schemas.openxmlformats.org/drawingml/2006/main">
              <a:ext uri="{FF2B5EF4-FFF2-40B4-BE49-F238E27FC236}">
                <a16:creationId xmlns:a16="http://schemas.microsoft.com/office/drawing/2014/main" id="{E6C27671-7CB2-4871-A3A4-BAE747DF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3239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hool">
            <a:extLst xmlns:a="http://schemas.openxmlformats.org/drawingml/2006/main">
              <a:ext uri="{FF2B5EF4-FFF2-40B4-BE49-F238E27FC236}">
                <a16:creationId xmlns:a16="http://schemas.microsoft.com/office/drawing/2014/main" id="{458729F5-4FF8-479A-8BD2-CD8EB969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90" b="1">
                <a:solidFill>
                  <a:srgbClr val="202124"/>
                </a:solidFill>
              </a:defRPr>
            </a:defPPr>
            <a:lvl1pPr algn="l">
              <a:defRPr sz="990" b="1">
                <a:solidFill>
                  <a:srgbClr val="202124"/>
                </a:solidFill>
              </a:defRPr>
            </a:lvl1pPr>
            <a:lvl2pPr algn="l">
              <a:defRPr sz="990" b="1">
                <a:solidFill>
                  <a:srgbClr val="202124"/>
                </a:solidFill>
              </a:defRPr>
            </a:lvl2pPr>
            <a:lvl3pPr algn="l">
              <a:defRPr sz="990" b="1">
                <a:solidFill>
                  <a:srgbClr val="202124"/>
                </a:solidFill>
              </a:defRPr>
            </a:lvl3pPr>
            <a:lvl4pPr algn="l">
              <a:defRPr sz="990" b="1">
                <a:solidFill>
                  <a:srgbClr val="202124"/>
                </a:solidFill>
              </a:defRPr>
            </a:lvl4pPr>
            <a:lvl5pPr algn="l">
              <a:defRPr sz="990" b="1">
                <a:solidFill>
                  <a:srgbClr val="202124"/>
                </a:solidFill>
              </a:defRPr>
            </a:lvl5pPr>
            <a:lvl6pPr algn="l">
              <a:defRPr sz="990" b="1">
                <a:solidFill>
                  <a:srgbClr val="202124"/>
                </a:solidFill>
              </a:defRPr>
            </a:lvl6pPr>
            <a:lvl7pPr algn="l">
              <a:defRPr sz="990" b="1">
                <a:solidFill>
                  <a:srgbClr val="202124"/>
                </a:solidFill>
              </a:defRPr>
            </a:lvl7pPr>
            <a:lvl8pPr algn="l">
              <a:defRPr sz="990" b="1">
                <a:solidFill>
                  <a:srgbClr val="202124"/>
                </a:solidFill>
              </a:defRPr>
            </a:lvl8pPr>
            <a:lvl9pPr algn="l">
              <a:defRPr sz="99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990" b="1">
                <a:solidFill>
                  <a:srgbClr val="202124"/>
                </a:solidFill>
              </a:defRPr>
            </a:pPr>
            <a:r>
              <a:rPr sz="990" b="1">
                <a:solidFill>
                  <a:srgbClr val="202124"/>
                </a:solidFill>
              </a:rPr>
              <a:t>[学校名称]</a:t>
            </a:r>
          </a:p>
        </p:txBody>
      </p:sp>
      <p:sp>
        <p:nvSpPr>
          <p:cNvPr id="7" name="major">
            <a:extLst xmlns:a="http://schemas.openxmlformats.org/drawingml/2006/main">
              <a:ext uri="{FF2B5EF4-FFF2-40B4-BE49-F238E27FC236}">
                <a16:creationId xmlns:a16="http://schemas.microsoft.com/office/drawing/2014/main" id="{D9E6F5D7-AAA9-4BF0-BB79-8DD4B90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24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202124"/>
                </a:solidFill>
              </a:defRPr>
            </a:defPPr>
            <a:lvl1pPr algn="ctr">
              <a:defRPr sz="975" b="0">
                <a:solidFill>
                  <a:srgbClr val="202124"/>
                </a:solidFill>
              </a:defRPr>
            </a:lvl1pPr>
            <a:lvl2pPr algn="ctr">
              <a:defRPr sz="975" b="0">
                <a:solidFill>
                  <a:srgbClr val="202124"/>
                </a:solidFill>
              </a:defRPr>
            </a:lvl2pPr>
            <a:lvl3pPr algn="ctr">
              <a:defRPr sz="975" b="0">
                <a:solidFill>
                  <a:srgbClr val="202124"/>
                </a:solidFill>
              </a:defRPr>
            </a:lvl3pPr>
            <a:lvl4pPr algn="ctr">
              <a:defRPr sz="975" b="0">
                <a:solidFill>
                  <a:srgbClr val="202124"/>
                </a:solidFill>
              </a:defRPr>
            </a:lvl4pPr>
            <a:lvl5pPr algn="ctr">
              <a:defRPr sz="975" b="0">
                <a:solidFill>
                  <a:srgbClr val="202124"/>
                </a:solidFill>
              </a:defRPr>
            </a:lvl5pPr>
            <a:lvl6pPr algn="ctr">
              <a:defRPr sz="975" b="0">
                <a:solidFill>
                  <a:srgbClr val="202124"/>
                </a:solidFill>
              </a:defRPr>
            </a:lvl6pPr>
            <a:lvl7pPr algn="ctr">
              <a:defRPr sz="975" b="0">
                <a:solidFill>
                  <a:srgbClr val="202124"/>
                </a:solidFill>
              </a:defRPr>
            </a:lvl7pPr>
            <a:lvl8pPr algn="ctr">
              <a:defRPr sz="975" b="0">
                <a:solidFill>
                  <a:srgbClr val="202124"/>
                </a:solidFill>
              </a:defRPr>
            </a:lvl8pPr>
            <a:lvl9pPr algn="ctr">
              <a:defRPr sz="97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[专业名称]  [学历]</a:t>
            </a:r>
          </a:p>
        </p:txBody>
      </p:sp>
      <p:sp>
        <p:nvSpPr>
          <p:cNvPr id="8" name="education-date">
            <a:extLst xmlns:a="http://schemas.openxmlformats.org/drawingml/2006/main">
              <a:ext uri="{FF2B5EF4-FFF2-40B4-BE49-F238E27FC236}">
                <a16:creationId xmlns:a16="http://schemas.microsoft.com/office/drawing/2014/main" id="{624A6F79-8537-4098-AA18-DDB3C964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240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38" b="0">
                <a:solidFill>
                  <a:srgbClr val="202124"/>
                </a:solidFill>
              </a:defRPr>
            </a:defPPr>
            <a:lvl1pPr algn="r">
              <a:defRPr sz="938" b="0">
                <a:solidFill>
                  <a:srgbClr val="202124"/>
                </a:solidFill>
              </a:defRPr>
            </a:lvl1pPr>
            <a:lvl2pPr algn="r">
              <a:defRPr sz="938" b="0">
                <a:solidFill>
                  <a:srgbClr val="202124"/>
                </a:solidFill>
              </a:defRPr>
            </a:lvl2pPr>
            <a:lvl3pPr algn="r">
              <a:defRPr sz="938" b="0">
                <a:solidFill>
                  <a:srgbClr val="202124"/>
                </a:solidFill>
              </a:defRPr>
            </a:lvl3pPr>
            <a:lvl4pPr algn="r">
              <a:defRPr sz="938" b="0">
                <a:solidFill>
                  <a:srgbClr val="202124"/>
                </a:solidFill>
              </a:defRPr>
            </a:lvl4pPr>
            <a:lvl5pPr algn="r">
              <a:defRPr sz="938" b="0">
                <a:solidFill>
                  <a:srgbClr val="202124"/>
                </a:solidFill>
              </a:defRPr>
            </a:lvl5pPr>
            <a:lvl6pPr algn="r">
              <a:defRPr sz="938" b="0">
                <a:solidFill>
                  <a:srgbClr val="202124"/>
                </a:solidFill>
              </a:defRPr>
            </a:lvl6pPr>
            <a:lvl7pPr algn="r">
              <a:defRPr sz="938" b="0">
                <a:solidFill>
                  <a:srgbClr val="202124"/>
                </a:solidFill>
              </a:defRPr>
            </a:lvl7pPr>
            <a:lvl8pPr algn="r">
              <a:defRPr sz="938" b="0">
                <a:solidFill>
                  <a:srgbClr val="202124"/>
                </a:solidFill>
              </a:defRPr>
            </a:lvl8pPr>
            <a:lvl9pPr algn="r">
              <a:defRPr sz="938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r">
              <a:defRPr sz="938" b="0">
                <a:solidFill>
                  <a:srgbClr val="202124"/>
                </a:solidFill>
              </a:defRPr>
            </a:pPr>
            <a:r>
              <a:rPr sz="938" b="0">
                <a:solidFill>
                  <a:srgbClr val="202124"/>
                </a:solidFill>
              </a:rPr>
              <a:t>[起止时间]</a:t>
            </a:r>
          </a:p>
        </p:txBody>
      </p:sp>
      <p:sp>
        <p:nvSpPr>
          <p:cNvPr id="9" name="education-detail">
            <a:extLst xmlns:a="http://schemas.openxmlformats.org/drawingml/2006/main">
              <a:ext uri="{FF2B5EF4-FFF2-40B4-BE49-F238E27FC236}">
                <a16:creationId xmlns:a16="http://schemas.microsoft.com/office/drawing/2014/main" id="{1B05AF6E-FBA1-4ABE-882E-3CE5A93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6686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5F6368"/>
                </a:solidFill>
              </a:defRPr>
            </a:defPPr>
            <a:lvl1pPr algn="l">
              <a:defRPr sz="885" b="0">
                <a:solidFill>
                  <a:srgbClr val="5F6368"/>
                </a:solidFill>
              </a:defRPr>
            </a:lvl1pPr>
            <a:lvl2pPr algn="l">
              <a:defRPr sz="885" b="0">
                <a:solidFill>
                  <a:srgbClr val="5F6368"/>
                </a:solidFill>
              </a:defRPr>
            </a:lvl2pPr>
            <a:lvl3pPr algn="l">
              <a:defRPr sz="885" b="0">
                <a:solidFill>
                  <a:srgbClr val="5F6368"/>
                </a:solidFill>
              </a:defRPr>
            </a:lvl3pPr>
            <a:lvl4pPr algn="l">
              <a:defRPr sz="885" b="0">
                <a:solidFill>
                  <a:srgbClr val="5F6368"/>
                </a:solidFill>
              </a:defRPr>
            </a:lvl4pPr>
            <a:lvl5pPr algn="l">
              <a:defRPr sz="885" b="0">
                <a:solidFill>
                  <a:srgbClr val="5F6368"/>
                </a:solidFill>
              </a:defRPr>
            </a:lvl5pPr>
            <a:lvl6pPr algn="l">
              <a:defRPr sz="885" b="0">
                <a:solidFill>
                  <a:srgbClr val="5F6368"/>
                </a:solidFill>
              </a:defRPr>
            </a:lvl6pPr>
            <a:lvl7pPr algn="l">
              <a:defRPr sz="885" b="0">
                <a:solidFill>
                  <a:srgbClr val="5F6368"/>
                </a:solidFill>
              </a:defRPr>
            </a:lvl7pPr>
            <a:lvl8pPr algn="l">
              <a:defRPr sz="885" b="0">
                <a:solidFill>
                  <a:srgbClr val="5F6368"/>
                </a:solidFill>
              </a:defRPr>
            </a:lvl8pPr>
            <a:lvl9pPr algn="l">
              <a:defRPr sz="885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5F6368"/>
                </a:solidFill>
              </a:defRPr>
            </a:pPr>
            <a:r>
              <a:rPr sz="885" b="0">
                <a:solidFill>
                  <a:srgbClr val="5F6368"/>
                </a:solidFill>
              </a:rPr>
              <a:t>[GPA / 排名 / 奖项，可删除]</a:t>
            </a:r>
          </a:p>
        </p:txBody>
      </p:sp>
      <p:sp>
        <p:nvSpPr>
          <p:cNvPr id="10" name="section-专业技能">
            <a:extLst xmlns:a="http://schemas.openxmlformats.org/drawingml/2006/main">
              <a:ext uri="{FF2B5EF4-FFF2-40B4-BE49-F238E27FC236}">
                <a16:creationId xmlns:a16="http://schemas.microsoft.com/office/drawing/2014/main" id="{8B9E2225-703A-48AD-B58D-D2A96F8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574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专业技能</a:t>
            </a:r>
          </a:p>
        </p:txBody>
      </p:sp>
      <p:sp>
        <p:nvSpPr>
          <p:cNvPr id="11" name="rule-专业技能">
            <a:extLst xmlns:a="http://schemas.openxmlformats.org/drawingml/2006/main">
              <a:ext uri="{FF2B5EF4-FFF2-40B4-BE49-F238E27FC236}">
                <a16:creationId xmlns:a16="http://schemas.microsoft.com/office/drawing/2014/main" id="{D9CB1D16-0060-49B4-889A-4FF38CCC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812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kill-1">
            <a:extLst xmlns:a="http://schemas.openxmlformats.org/drawingml/2006/main">
              <a:ext uri="{FF2B5EF4-FFF2-40B4-BE49-F238E27FC236}">
                <a16:creationId xmlns:a16="http://schemas.microsoft.com/office/drawing/2014/main" id="{FC321770-51ED-4682-A6B4-2D68687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15" b="0">
                <a:solidFill>
                  <a:srgbClr val="202124"/>
                </a:solidFill>
              </a:defRPr>
            </a:defPPr>
            <a:lvl1pPr algn="l">
              <a:defRPr sz="915" b="0">
                <a:solidFill>
                  <a:srgbClr val="202124"/>
                </a:solidFill>
              </a:defRPr>
            </a:lvl1pPr>
            <a:lvl2pPr algn="l">
              <a:defRPr sz="915" b="0">
                <a:solidFill>
                  <a:srgbClr val="202124"/>
                </a:solidFill>
              </a:defRPr>
            </a:lvl2pPr>
            <a:lvl3pPr algn="l">
              <a:defRPr sz="915" b="0">
                <a:solidFill>
                  <a:srgbClr val="202124"/>
                </a:solidFill>
              </a:defRPr>
            </a:lvl3pPr>
            <a:lvl4pPr algn="l">
              <a:defRPr sz="915" b="0">
                <a:solidFill>
                  <a:srgbClr val="202124"/>
                </a:solidFill>
              </a:defRPr>
            </a:lvl4pPr>
            <a:lvl5pPr algn="l">
              <a:defRPr sz="915" b="0">
                <a:solidFill>
                  <a:srgbClr val="202124"/>
                </a:solidFill>
              </a:defRPr>
            </a:lvl5pPr>
            <a:lvl6pPr algn="l">
              <a:defRPr sz="915" b="0">
                <a:solidFill>
                  <a:srgbClr val="202124"/>
                </a:solidFill>
              </a:defRPr>
            </a:lvl6pPr>
            <a:lvl7pPr algn="l">
              <a:defRPr sz="915" b="0">
                <a:solidFill>
                  <a:srgbClr val="202124"/>
                </a:solidFill>
              </a:defRPr>
            </a:lvl7pPr>
            <a:lvl8pPr algn="l">
              <a:defRPr sz="915" b="0">
                <a:solidFill>
                  <a:srgbClr val="202124"/>
                </a:solidFill>
              </a:defRPr>
            </a:lvl8pPr>
            <a:lvl9pPr algn="l">
              <a:defRPr sz="91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•  熟悉 Python 后端开发，能够使用 FastAPI、Pydantic、asyncio、httpx 与 SSE 构建异步接口和流式服务。</a:t>
            </a:r>
          </a:p>
        </p:txBody>
      </p:sp>
      <p:sp>
        <p:nvSpPr>
          <p:cNvPr id="13" name="skill-2">
            <a:extLst xmlns:a="http://schemas.openxmlformats.org/drawingml/2006/main">
              <a:ext uri="{FF2B5EF4-FFF2-40B4-BE49-F238E27FC236}">
                <a16:creationId xmlns:a16="http://schemas.microsoft.com/office/drawing/2014/main" id="{7AA63A7A-7F6C-4AA6-A69E-F874352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15" b="0">
                <a:solidFill>
                  <a:srgbClr val="202124"/>
                </a:solidFill>
              </a:defRPr>
            </a:defPPr>
            <a:lvl1pPr algn="l">
              <a:defRPr sz="915" b="0">
                <a:solidFill>
                  <a:srgbClr val="202124"/>
                </a:solidFill>
              </a:defRPr>
            </a:lvl1pPr>
            <a:lvl2pPr algn="l">
              <a:defRPr sz="915" b="0">
                <a:solidFill>
                  <a:srgbClr val="202124"/>
                </a:solidFill>
              </a:defRPr>
            </a:lvl2pPr>
            <a:lvl3pPr algn="l">
              <a:defRPr sz="915" b="0">
                <a:solidFill>
                  <a:srgbClr val="202124"/>
                </a:solidFill>
              </a:defRPr>
            </a:lvl3pPr>
            <a:lvl4pPr algn="l">
              <a:defRPr sz="915" b="0">
                <a:solidFill>
                  <a:srgbClr val="202124"/>
                </a:solidFill>
              </a:defRPr>
            </a:lvl4pPr>
            <a:lvl5pPr algn="l">
              <a:defRPr sz="915" b="0">
                <a:solidFill>
                  <a:srgbClr val="202124"/>
                </a:solidFill>
              </a:defRPr>
            </a:lvl5pPr>
            <a:lvl6pPr algn="l">
              <a:defRPr sz="915" b="0">
                <a:solidFill>
                  <a:srgbClr val="202124"/>
                </a:solidFill>
              </a:defRPr>
            </a:lvl6pPr>
            <a:lvl7pPr algn="l">
              <a:defRPr sz="915" b="0">
                <a:solidFill>
                  <a:srgbClr val="202124"/>
                </a:solidFill>
              </a:defRPr>
            </a:lvl7pPr>
            <a:lvl8pPr algn="l">
              <a:defRPr sz="915" b="0">
                <a:solidFill>
                  <a:srgbClr val="202124"/>
                </a:solidFill>
              </a:defRPr>
            </a:lvl8pPr>
            <a:lvl9pPr algn="l">
              <a:defRPr sz="91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•  掌握 Agent 与 RAG 核心链路，具备 MCP、Agent Loop、BGE、字符 n-gram、RRF、证据门控与引用校验实践。</a:t>
            </a:r>
          </a:p>
        </p:txBody>
      </p:sp>
      <p:sp>
        <p:nvSpPr>
          <p:cNvPr id="14" name="skill-3">
            <a:extLst xmlns:a="http://schemas.openxmlformats.org/drawingml/2006/main">
              <a:ext uri="{FF2B5EF4-FFF2-40B4-BE49-F238E27FC236}">
                <a16:creationId xmlns:a16="http://schemas.microsoft.com/office/drawing/2014/main" id="{12FDD743-2E57-40B6-9D82-8B6E95E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15" b="0">
                <a:solidFill>
                  <a:srgbClr val="202124"/>
                </a:solidFill>
              </a:defRPr>
            </a:defPPr>
            <a:lvl1pPr algn="l">
              <a:defRPr sz="915" b="0">
                <a:solidFill>
                  <a:srgbClr val="202124"/>
                </a:solidFill>
              </a:defRPr>
            </a:lvl1pPr>
            <a:lvl2pPr algn="l">
              <a:defRPr sz="915" b="0">
                <a:solidFill>
                  <a:srgbClr val="202124"/>
                </a:solidFill>
              </a:defRPr>
            </a:lvl2pPr>
            <a:lvl3pPr algn="l">
              <a:defRPr sz="915" b="0">
                <a:solidFill>
                  <a:srgbClr val="202124"/>
                </a:solidFill>
              </a:defRPr>
            </a:lvl3pPr>
            <a:lvl4pPr algn="l">
              <a:defRPr sz="915" b="0">
                <a:solidFill>
                  <a:srgbClr val="202124"/>
                </a:solidFill>
              </a:defRPr>
            </a:lvl4pPr>
            <a:lvl5pPr algn="l">
              <a:defRPr sz="915" b="0">
                <a:solidFill>
                  <a:srgbClr val="202124"/>
                </a:solidFill>
              </a:defRPr>
            </a:lvl5pPr>
            <a:lvl6pPr algn="l">
              <a:defRPr sz="915" b="0">
                <a:solidFill>
                  <a:srgbClr val="202124"/>
                </a:solidFill>
              </a:defRPr>
            </a:lvl6pPr>
            <a:lvl7pPr algn="l">
              <a:defRPr sz="915" b="0">
                <a:solidFill>
                  <a:srgbClr val="202124"/>
                </a:solidFill>
              </a:defRPr>
            </a:lvl7pPr>
            <a:lvl8pPr algn="l">
              <a:defRPr sz="915" b="0">
                <a:solidFill>
                  <a:srgbClr val="202124"/>
                </a:solidFill>
              </a:defRPr>
            </a:lvl8pPr>
            <a:lvl9pPr algn="l">
              <a:defRPr sz="91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•  熟悉 Redis 与 SQLite 的工程使用，能够使用 Redis Lua 实现原子配额控制，并设计租户、会话、文件和 Trace 数据模型。</a:t>
            </a:r>
          </a:p>
        </p:txBody>
      </p:sp>
      <p:sp>
        <p:nvSpPr>
          <p:cNvPr id="15" name="skill-4">
            <a:extLst xmlns:a="http://schemas.openxmlformats.org/drawingml/2006/main">
              <a:ext uri="{FF2B5EF4-FFF2-40B4-BE49-F238E27FC236}">
                <a16:creationId xmlns:a16="http://schemas.microsoft.com/office/drawing/2014/main" id="{C06D44E3-20BA-4F09-A240-6AEBB5FF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15" b="0">
                <a:solidFill>
                  <a:srgbClr val="202124"/>
                </a:solidFill>
              </a:defRPr>
            </a:defPPr>
            <a:lvl1pPr algn="l">
              <a:defRPr sz="915" b="0">
                <a:solidFill>
                  <a:srgbClr val="202124"/>
                </a:solidFill>
              </a:defRPr>
            </a:lvl1pPr>
            <a:lvl2pPr algn="l">
              <a:defRPr sz="915" b="0">
                <a:solidFill>
                  <a:srgbClr val="202124"/>
                </a:solidFill>
              </a:defRPr>
            </a:lvl2pPr>
            <a:lvl3pPr algn="l">
              <a:defRPr sz="915" b="0">
                <a:solidFill>
                  <a:srgbClr val="202124"/>
                </a:solidFill>
              </a:defRPr>
            </a:lvl3pPr>
            <a:lvl4pPr algn="l">
              <a:defRPr sz="915" b="0">
                <a:solidFill>
                  <a:srgbClr val="202124"/>
                </a:solidFill>
              </a:defRPr>
            </a:lvl4pPr>
            <a:lvl5pPr algn="l">
              <a:defRPr sz="915" b="0">
                <a:solidFill>
                  <a:srgbClr val="202124"/>
                </a:solidFill>
              </a:defRPr>
            </a:lvl5pPr>
            <a:lvl6pPr algn="l">
              <a:defRPr sz="915" b="0">
                <a:solidFill>
                  <a:srgbClr val="202124"/>
                </a:solidFill>
              </a:defRPr>
            </a:lvl6pPr>
            <a:lvl7pPr algn="l">
              <a:defRPr sz="915" b="0">
                <a:solidFill>
                  <a:srgbClr val="202124"/>
                </a:solidFill>
              </a:defRPr>
            </a:lvl7pPr>
            <a:lvl8pPr algn="l">
              <a:defRPr sz="915" b="0">
                <a:solidFill>
                  <a:srgbClr val="202124"/>
                </a:solidFill>
              </a:defRPr>
            </a:lvl8pPr>
            <a:lvl9pPr algn="l">
              <a:defRPr sz="91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•  熟悉 Docker 与 nsjail 隔离执行，能够配置网络、CPU、内存、进程数、超时及输出限制。</a:t>
            </a:r>
          </a:p>
        </p:txBody>
      </p:sp>
      <p:sp>
        <p:nvSpPr>
          <p:cNvPr id="16" name="skill-5">
            <a:extLst xmlns:a="http://schemas.openxmlformats.org/drawingml/2006/main">
              <a:ext uri="{FF2B5EF4-FFF2-40B4-BE49-F238E27FC236}">
                <a16:creationId xmlns:a16="http://schemas.microsoft.com/office/drawing/2014/main" id="{C344A78E-5382-4C3F-A06E-CDDD3E9B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662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15" b="0">
                <a:solidFill>
                  <a:srgbClr val="202124"/>
                </a:solidFill>
              </a:defRPr>
            </a:defPPr>
            <a:lvl1pPr algn="l">
              <a:defRPr sz="915" b="0">
                <a:solidFill>
                  <a:srgbClr val="202124"/>
                </a:solidFill>
              </a:defRPr>
            </a:lvl1pPr>
            <a:lvl2pPr algn="l">
              <a:defRPr sz="915" b="0">
                <a:solidFill>
                  <a:srgbClr val="202124"/>
                </a:solidFill>
              </a:defRPr>
            </a:lvl2pPr>
            <a:lvl3pPr algn="l">
              <a:defRPr sz="915" b="0">
                <a:solidFill>
                  <a:srgbClr val="202124"/>
                </a:solidFill>
              </a:defRPr>
            </a:lvl3pPr>
            <a:lvl4pPr algn="l">
              <a:defRPr sz="915" b="0">
                <a:solidFill>
                  <a:srgbClr val="202124"/>
                </a:solidFill>
              </a:defRPr>
            </a:lvl4pPr>
            <a:lvl5pPr algn="l">
              <a:defRPr sz="915" b="0">
                <a:solidFill>
                  <a:srgbClr val="202124"/>
                </a:solidFill>
              </a:defRPr>
            </a:lvl5pPr>
            <a:lvl6pPr algn="l">
              <a:defRPr sz="915" b="0">
                <a:solidFill>
                  <a:srgbClr val="202124"/>
                </a:solidFill>
              </a:defRPr>
            </a:lvl6pPr>
            <a:lvl7pPr algn="l">
              <a:defRPr sz="915" b="0">
                <a:solidFill>
                  <a:srgbClr val="202124"/>
                </a:solidFill>
              </a:defRPr>
            </a:lvl7pPr>
            <a:lvl8pPr algn="l">
              <a:defRPr sz="915" b="0">
                <a:solidFill>
                  <a:srgbClr val="202124"/>
                </a:solidFill>
              </a:defRPr>
            </a:lvl8pPr>
            <a:lvl9pPr algn="l">
              <a:defRPr sz="91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•  具备自动化测试和性能分析经验，使用 pytest、并发压测及 p50/p95/p99、吞吐、HTTP 429、CPU 和内存指标定位问题。</a:t>
            </a:r>
          </a:p>
        </p:txBody>
      </p:sp>
      <p:sp>
        <p:nvSpPr>
          <p:cNvPr id="17" name="section-项目经历">
            <a:extLst xmlns:a="http://schemas.openxmlformats.org/drawingml/2006/main">
              <a:ext uri="{FF2B5EF4-FFF2-40B4-BE49-F238E27FC236}">
                <a16:creationId xmlns:a16="http://schemas.microsoft.com/office/drawing/2014/main" id="{8E36F419-04B5-40CF-A135-695EFD5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57625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项目经历</a:t>
            </a:r>
          </a:p>
        </p:txBody>
      </p:sp>
      <p:sp>
        <p:nvSpPr>
          <p:cNvPr id="18" name="rule-项目经历">
            <a:extLst xmlns:a="http://schemas.openxmlformats.org/drawingml/2006/main">
              <a:ext uri="{FF2B5EF4-FFF2-40B4-BE49-F238E27FC236}">
                <a16:creationId xmlns:a16="http://schemas.microsoft.com/office/drawing/2014/main" id="{D3A99578-C3B8-4E40-A754-FC451937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undResearch Agent-name">
            <a:extLst xmlns:a="http://schemas.openxmlformats.org/drawingml/2006/main">
              <a:ext uri="{FF2B5EF4-FFF2-40B4-BE49-F238E27FC236}">
                <a16:creationId xmlns:a16="http://schemas.microsoft.com/office/drawing/2014/main" id="{646F30AD-E047-443C-901F-4F78DD3B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1">
                <a:solidFill>
                  <a:srgbClr val="202124"/>
                </a:solidFill>
              </a:defRPr>
            </a:defPPr>
            <a:lvl1pPr algn="l">
              <a:defRPr sz="1088" b="1">
                <a:solidFill>
                  <a:srgbClr val="202124"/>
                </a:solidFill>
              </a:defRPr>
            </a:lvl1pPr>
            <a:lvl2pPr algn="l">
              <a:defRPr sz="1088" b="1">
                <a:solidFill>
                  <a:srgbClr val="202124"/>
                </a:solidFill>
              </a:defRPr>
            </a:lvl2pPr>
            <a:lvl3pPr algn="l">
              <a:defRPr sz="1088" b="1">
                <a:solidFill>
                  <a:srgbClr val="202124"/>
                </a:solidFill>
              </a:defRPr>
            </a:lvl3pPr>
            <a:lvl4pPr algn="l">
              <a:defRPr sz="1088" b="1">
                <a:solidFill>
                  <a:srgbClr val="202124"/>
                </a:solidFill>
              </a:defRPr>
            </a:lvl4pPr>
            <a:lvl5pPr algn="l">
              <a:defRPr sz="1088" b="1">
                <a:solidFill>
                  <a:srgbClr val="202124"/>
                </a:solidFill>
              </a:defRPr>
            </a:lvl5pPr>
            <a:lvl6pPr algn="l">
              <a:defRPr sz="1088" b="1">
                <a:solidFill>
                  <a:srgbClr val="202124"/>
                </a:solidFill>
              </a:defRPr>
            </a:lvl6pPr>
            <a:lvl7pPr algn="l">
              <a:defRPr sz="1088" b="1">
                <a:solidFill>
                  <a:srgbClr val="202124"/>
                </a:solidFill>
              </a:defRPr>
            </a:lvl7pPr>
            <a:lvl8pPr algn="l">
              <a:defRPr sz="1088" b="1">
                <a:solidFill>
                  <a:srgbClr val="202124"/>
                </a:solidFill>
              </a:defRPr>
            </a:lvl8pPr>
            <a:lvl9pPr algn="l">
              <a:defRPr sz="1088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1088" b="1">
                <a:solidFill>
                  <a:srgbClr val="202124"/>
                </a:solidFill>
              </a:defRPr>
            </a:pPr>
            <a:r>
              <a:rPr sz="1088" b="1">
                <a:solidFill>
                  <a:srgbClr val="202124"/>
                </a:solidFill>
              </a:rPr>
              <a:t>FundResearch Agent</a:t>
            </a:r>
          </a:p>
        </p:txBody>
      </p:sp>
      <p:sp>
        <p:nvSpPr>
          <p:cNvPr id="20" name="FundResearch Agent-role">
            <a:extLst xmlns:a="http://schemas.openxmlformats.org/drawingml/2006/main">
              <a:ext uri="{FF2B5EF4-FFF2-40B4-BE49-F238E27FC236}">
                <a16:creationId xmlns:a16="http://schemas.microsoft.com/office/drawing/2014/main" id="{7069DE42-0A88-4358-9092-7A5D9D90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02124"/>
                </a:solidFill>
              </a:defRPr>
            </a:defPPr>
            <a:lvl1pPr algn="ctr">
              <a:defRPr sz="975" b="1">
                <a:solidFill>
                  <a:srgbClr val="202124"/>
                </a:solidFill>
              </a:defRPr>
            </a:lvl1pPr>
            <a:lvl2pPr algn="ctr">
              <a:defRPr sz="975" b="1">
                <a:solidFill>
                  <a:srgbClr val="202124"/>
                </a:solidFill>
              </a:defRPr>
            </a:lvl2pPr>
            <a:lvl3pPr algn="ctr">
              <a:defRPr sz="975" b="1">
                <a:solidFill>
                  <a:srgbClr val="202124"/>
                </a:solidFill>
              </a:defRPr>
            </a:lvl3pPr>
            <a:lvl4pPr algn="ctr">
              <a:defRPr sz="975" b="1">
                <a:solidFill>
                  <a:srgbClr val="202124"/>
                </a:solidFill>
              </a:defRPr>
            </a:lvl4pPr>
            <a:lvl5pPr algn="ctr">
              <a:defRPr sz="975" b="1">
                <a:solidFill>
                  <a:srgbClr val="202124"/>
                </a:solidFill>
              </a:defRPr>
            </a:lvl5pPr>
            <a:lvl6pPr algn="ctr">
              <a:defRPr sz="975" b="1">
                <a:solidFill>
                  <a:srgbClr val="202124"/>
                </a:solidFill>
              </a:defRPr>
            </a:lvl6pPr>
            <a:lvl7pPr algn="ctr">
              <a:defRPr sz="975" b="1">
                <a:solidFill>
                  <a:srgbClr val="202124"/>
                </a:solidFill>
              </a:defRPr>
            </a:lvl7pPr>
            <a:lvl8pPr algn="ctr">
              <a:defRPr sz="975" b="1">
                <a:solidFill>
                  <a:srgbClr val="202124"/>
                </a:solidFill>
              </a:defRPr>
            </a:lvl8pPr>
            <a:lvl9pPr algn="ctr">
              <a:defRPr sz="975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AI Agent / RAG</a:t>
            </a:r>
          </a:p>
        </p:txBody>
      </p:sp>
      <p:sp>
        <p:nvSpPr>
          <p:cNvPr id="21" name="FundResearch Agent-status">
            <a:extLst xmlns:a="http://schemas.openxmlformats.org/drawingml/2006/main">
              <a:ext uri="{FF2B5EF4-FFF2-40B4-BE49-F238E27FC236}">
                <a16:creationId xmlns:a16="http://schemas.microsoft.com/office/drawing/2014/main" id="{5228DF97-CB49-4434-9F03-3F3210D7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910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63" b="0">
                <a:solidFill>
                  <a:srgbClr val="202124"/>
                </a:solidFill>
              </a:defRPr>
            </a:defPPr>
            <a:lvl1pPr algn="r">
              <a:defRPr sz="863" b="0">
                <a:solidFill>
                  <a:srgbClr val="202124"/>
                </a:solidFill>
              </a:defRPr>
            </a:lvl1pPr>
            <a:lvl2pPr algn="r">
              <a:defRPr sz="863" b="0">
                <a:solidFill>
                  <a:srgbClr val="202124"/>
                </a:solidFill>
              </a:defRPr>
            </a:lvl2pPr>
            <a:lvl3pPr algn="r">
              <a:defRPr sz="863" b="0">
                <a:solidFill>
                  <a:srgbClr val="202124"/>
                </a:solidFill>
              </a:defRPr>
            </a:lvl3pPr>
            <a:lvl4pPr algn="r">
              <a:defRPr sz="863" b="0">
                <a:solidFill>
                  <a:srgbClr val="202124"/>
                </a:solidFill>
              </a:defRPr>
            </a:lvl4pPr>
            <a:lvl5pPr algn="r">
              <a:defRPr sz="863" b="0">
                <a:solidFill>
                  <a:srgbClr val="202124"/>
                </a:solidFill>
              </a:defRPr>
            </a:lvl5pPr>
            <a:lvl6pPr algn="r">
              <a:defRPr sz="863" b="0">
                <a:solidFill>
                  <a:srgbClr val="202124"/>
                </a:solidFill>
              </a:defRPr>
            </a:lvl6pPr>
            <a:lvl7pPr algn="r">
              <a:defRPr sz="863" b="0">
                <a:solidFill>
                  <a:srgbClr val="202124"/>
                </a:solidFill>
              </a:defRPr>
            </a:lvl7pPr>
            <a:lvl8pPr algn="r">
              <a:defRPr sz="863" b="0">
                <a:solidFill>
                  <a:srgbClr val="202124"/>
                </a:solidFill>
              </a:defRPr>
            </a:lvl8pPr>
            <a:lvl9pPr algn="r">
              <a:defRPr sz="863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r">
              <a:defRPr sz="863" b="0">
                <a:solidFill>
                  <a:srgbClr val="202124"/>
                </a:solidFill>
              </a:defRPr>
            </a:pPr>
            <a:r>
              <a:rPr sz="863" b="0">
                <a:solidFill>
                  <a:srgbClr val="202124"/>
                </a:solidFill>
              </a:rPr>
              <a:t>个人项目  持续迭代</a:t>
            </a:r>
          </a:p>
        </p:txBody>
      </p:sp>
      <p:sp>
        <p:nvSpPr>
          <p:cNvPr id="22" name="fund-stack">
            <a:extLst xmlns:a="http://schemas.openxmlformats.org/drawingml/2006/main">
              <a:ext uri="{FF2B5EF4-FFF2-40B4-BE49-F238E27FC236}">
                <a16:creationId xmlns:a16="http://schemas.microsoft.com/office/drawing/2014/main" id="{8081A1B3-1EC8-4D5D-B7DA-53B014DF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686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02124"/>
                </a:solidFill>
              </a:defRPr>
            </a:defPPr>
            <a:lvl1pPr algn="l">
              <a:defRPr sz="885" b="0">
                <a:solidFill>
                  <a:srgbClr val="202124"/>
                </a:solidFill>
              </a:defRPr>
            </a:lvl1pPr>
            <a:lvl2pPr algn="l">
              <a:defRPr sz="885" b="0">
                <a:solidFill>
                  <a:srgbClr val="202124"/>
                </a:solidFill>
              </a:defRPr>
            </a:lvl2pPr>
            <a:lvl3pPr algn="l">
              <a:defRPr sz="885" b="0">
                <a:solidFill>
                  <a:srgbClr val="202124"/>
                </a:solidFill>
              </a:defRPr>
            </a:lvl3pPr>
            <a:lvl4pPr algn="l">
              <a:defRPr sz="885" b="0">
                <a:solidFill>
                  <a:srgbClr val="202124"/>
                </a:solidFill>
              </a:defRPr>
            </a:lvl4pPr>
            <a:lvl5pPr algn="l">
              <a:defRPr sz="885" b="0">
                <a:solidFill>
                  <a:srgbClr val="202124"/>
                </a:solidFill>
              </a:defRPr>
            </a:lvl5pPr>
            <a:lvl6pPr algn="l">
              <a:defRPr sz="885" b="0">
                <a:solidFill>
                  <a:srgbClr val="202124"/>
                </a:solidFill>
              </a:defRPr>
            </a:lvl6pPr>
            <a:lvl7pPr algn="l">
              <a:defRPr sz="885" b="0">
                <a:solidFill>
                  <a:srgbClr val="202124"/>
                </a:solidFill>
              </a:defRPr>
            </a:lvl7pPr>
            <a:lvl8pPr algn="l">
              <a:defRPr sz="885" b="0">
                <a:solidFill>
                  <a:srgbClr val="202124"/>
                </a:solidFill>
              </a:defRPr>
            </a:lvl8pPr>
            <a:lvl9pPr algn="l">
              <a:defRPr sz="88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技术栈  Python、FastAPI、SQLite、SSE、MCP、Docker、BGE、RRF</a:t>
            </a:r>
          </a:p>
        </p:txBody>
      </p:sp>
      <p:sp>
        <p:nvSpPr>
          <p:cNvPr id="23" name="fund-1">
            <a:extLst xmlns:a="http://schemas.openxmlformats.org/drawingml/2006/main">
              <a:ext uri="{FF2B5EF4-FFF2-40B4-BE49-F238E27FC236}">
                <a16:creationId xmlns:a16="http://schemas.microsoft.com/office/drawing/2014/main" id="{C1A5EA37-51A4-4E02-8330-E344726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面向基金研究场景实现可审计 RAG Agent，支持官方 PDF 逐页索引、混合检索、SSE 流式回答、页码引用及 SQLite Trace；RAG 路径关闭 MCP。</a:t>
            </a:r>
          </a:p>
        </p:txBody>
      </p:sp>
      <p:sp>
        <p:nvSpPr>
          <p:cNvPr id="24" name="fund-2">
            <a:extLst xmlns:a="http://schemas.openxmlformats.org/drawingml/2006/main">
              <a:ext uri="{FF2B5EF4-FFF2-40B4-BE49-F238E27FC236}">
                <a16:creationId xmlns:a16="http://schemas.microsoft.com/office/drawing/2014/main" id="{FEAD69A7-2245-4DCF-9423-E50F8490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设计检索、证据判定和生成三层链路，EvidenceSufficiencyGate 对年份、费用、评级和联系方式等字段进行准入判断，证据不足时阻断生成。</a:t>
            </a:r>
          </a:p>
        </p:txBody>
      </p:sp>
      <p:sp>
        <p:nvSpPr>
          <p:cNvPr id="25" name="fund-3">
            <a:extLst xmlns:a="http://schemas.openxmlformats.org/drawingml/2006/main">
              <a:ext uri="{FF2B5EF4-FFF2-40B4-BE49-F238E27FC236}">
                <a16:creationId xmlns:a16="http://schemas.microsoft.com/office/drawing/2014/main" id="{B8413861-CB30-4627-B2DC-52B4651C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62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实现 QueryNormalizer，将自然问法映射为可审计的领域检索词，同时保留原问题构建 Grounded Prompt，降低语义漂移。</a:t>
            </a:r>
          </a:p>
        </p:txBody>
      </p:sp>
      <p:sp>
        <p:nvSpPr>
          <p:cNvPr id="26" name="fund-4">
            <a:extLst xmlns:a="http://schemas.openxmlformats.org/drawingml/2006/main">
              <a:ext uri="{FF2B5EF4-FFF2-40B4-BE49-F238E27FC236}">
                <a16:creationId xmlns:a16="http://schemas.microsoft.com/office/drawing/2014/main" id="{81796FCA-29A9-4CAC-AC48-0990E174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662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基于 5 家基金公司、10 份官网 PDF 构建 128 条评测用例；混合检索 Page Hit@3 达到 100%，并通过盲测定位门控泛化缺口。</a:t>
            </a:r>
          </a:p>
        </p:txBody>
      </p:sp>
      <p:sp>
        <p:nvSpPr>
          <p:cNvPr id="27" name="Agent Sandbox Control Plane-name">
            <a:extLst xmlns:a="http://schemas.openxmlformats.org/drawingml/2006/main">
              <a:ext uri="{FF2B5EF4-FFF2-40B4-BE49-F238E27FC236}">
                <a16:creationId xmlns:a16="http://schemas.microsoft.com/office/drawing/2014/main" id="{E3F57325-F333-4D75-955E-E0CBB703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817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1">
                <a:solidFill>
                  <a:srgbClr val="202124"/>
                </a:solidFill>
              </a:defRPr>
            </a:defPPr>
            <a:lvl1pPr algn="l">
              <a:defRPr sz="1088" b="1">
                <a:solidFill>
                  <a:srgbClr val="202124"/>
                </a:solidFill>
              </a:defRPr>
            </a:lvl1pPr>
            <a:lvl2pPr algn="l">
              <a:defRPr sz="1088" b="1">
                <a:solidFill>
                  <a:srgbClr val="202124"/>
                </a:solidFill>
              </a:defRPr>
            </a:lvl2pPr>
            <a:lvl3pPr algn="l">
              <a:defRPr sz="1088" b="1">
                <a:solidFill>
                  <a:srgbClr val="202124"/>
                </a:solidFill>
              </a:defRPr>
            </a:lvl3pPr>
            <a:lvl4pPr algn="l">
              <a:defRPr sz="1088" b="1">
                <a:solidFill>
                  <a:srgbClr val="202124"/>
                </a:solidFill>
              </a:defRPr>
            </a:lvl4pPr>
            <a:lvl5pPr algn="l">
              <a:defRPr sz="1088" b="1">
                <a:solidFill>
                  <a:srgbClr val="202124"/>
                </a:solidFill>
              </a:defRPr>
            </a:lvl5pPr>
            <a:lvl6pPr algn="l">
              <a:defRPr sz="1088" b="1">
                <a:solidFill>
                  <a:srgbClr val="202124"/>
                </a:solidFill>
              </a:defRPr>
            </a:lvl6pPr>
            <a:lvl7pPr algn="l">
              <a:defRPr sz="1088" b="1">
                <a:solidFill>
                  <a:srgbClr val="202124"/>
                </a:solidFill>
              </a:defRPr>
            </a:lvl7pPr>
            <a:lvl8pPr algn="l">
              <a:defRPr sz="1088" b="1">
                <a:solidFill>
                  <a:srgbClr val="202124"/>
                </a:solidFill>
              </a:defRPr>
            </a:lvl8pPr>
            <a:lvl9pPr algn="l">
              <a:defRPr sz="1088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1088" b="1">
                <a:solidFill>
                  <a:srgbClr val="202124"/>
                </a:solidFill>
              </a:defRPr>
            </a:pPr>
            <a:r>
              <a:rPr sz="1088" b="1">
                <a:solidFill>
                  <a:srgbClr val="202124"/>
                </a:solidFill>
              </a:rPr>
              <a:t>Agent Sandbox Control Plane</a:t>
            </a:r>
          </a:p>
        </p:txBody>
      </p:sp>
      <p:sp>
        <p:nvSpPr>
          <p:cNvPr id="28" name="Agent Sandbox Control Plane-role">
            <a:extLst xmlns:a="http://schemas.openxmlformats.org/drawingml/2006/main">
              <a:ext uri="{FF2B5EF4-FFF2-40B4-BE49-F238E27FC236}">
                <a16:creationId xmlns:a16="http://schemas.microsoft.com/office/drawing/2014/main" id="{D17ABBA3-AAD0-42E6-98B2-C996A61D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817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02124"/>
                </a:solidFill>
              </a:defRPr>
            </a:defPPr>
            <a:lvl1pPr algn="ctr">
              <a:defRPr sz="975" b="1">
                <a:solidFill>
                  <a:srgbClr val="202124"/>
                </a:solidFill>
              </a:defRPr>
            </a:lvl1pPr>
            <a:lvl2pPr algn="ctr">
              <a:defRPr sz="975" b="1">
                <a:solidFill>
                  <a:srgbClr val="202124"/>
                </a:solidFill>
              </a:defRPr>
            </a:lvl2pPr>
            <a:lvl3pPr algn="ctr">
              <a:defRPr sz="975" b="1">
                <a:solidFill>
                  <a:srgbClr val="202124"/>
                </a:solidFill>
              </a:defRPr>
            </a:lvl3pPr>
            <a:lvl4pPr algn="ctr">
              <a:defRPr sz="975" b="1">
                <a:solidFill>
                  <a:srgbClr val="202124"/>
                </a:solidFill>
              </a:defRPr>
            </a:lvl4pPr>
            <a:lvl5pPr algn="ctr">
              <a:defRPr sz="975" b="1">
                <a:solidFill>
                  <a:srgbClr val="202124"/>
                </a:solidFill>
              </a:defRPr>
            </a:lvl5pPr>
            <a:lvl6pPr algn="ctr">
              <a:defRPr sz="975" b="1">
                <a:solidFill>
                  <a:srgbClr val="202124"/>
                </a:solidFill>
              </a:defRPr>
            </a:lvl6pPr>
            <a:lvl7pPr algn="ctr">
              <a:defRPr sz="975" b="1">
                <a:solidFill>
                  <a:srgbClr val="202124"/>
                </a:solidFill>
              </a:defRPr>
            </a:lvl7pPr>
            <a:lvl8pPr algn="ctr">
              <a:defRPr sz="975" b="1">
                <a:solidFill>
                  <a:srgbClr val="202124"/>
                </a:solidFill>
              </a:defRPr>
            </a:lvl8pPr>
            <a:lvl9pPr algn="ctr">
              <a:defRPr sz="975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Python 后端 / Agent 基础设施</a:t>
            </a:r>
          </a:p>
        </p:txBody>
      </p:sp>
      <p:sp>
        <p:nvSpPr>
          <p:cNvPr id="29" name="Agent Sandbox Control Plane-status">
            <a:extLst xmlns:a="http://schemas.openxmlformats.org/drawingml/2006/main">
              <a:ext uri="{FF2B5EF4-FFF2-40B4-BE49-F238E27FC236}">
                <a16:creationId xmlns:a16="http://schemas.microsoft.com/office/drawing/2014/main" id="{9880C158-E727-449C-8F6B-67FE8AA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1817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63" b="0">
                <a:solidFill>
                  <a:srgbClr val="202124"/>
                </a:solidFill>
              </a:defRPr>
            </a:defPPr>
            <a:lvl1pPr algn="r">
              <a:defRPr sz="863" b="0">
                <a:solidFill>
                  <a:srgbClr val="202124"/>
                </a:solidFill>
              </a:defRPr>
            </a:lvl1pPr>
            <a:lvl2pPr algn="r">
              <a:defRPr sz="863" b="0">
                <a:solidFill>
                  <a:srgbClr val="202124"/>
                </a:solidFill>
              </a:defRPr>
            </a:lvl2pPr>
            <a:lvl3pPr algn="r">
              <a:defRPr sz="863" b="0">
                <a:solidFill>
                  <a:srgbClr val="202124"/>
                </a:solidFill>
              </a:defRPr>
            </a:lvl3pPr>
            <a:lvl4pPr algn="r">
              <a:defRPr sz="863" b="0">
                <a:solidFill>
                  <a:srgbClr val="202124"/>
                </a:solidFill>
              </a:defRPr>
            </a:lvl4pPr>
            <a:lvl5pPr algn="r">
              <a:defRPr sz="863" b="0">
                <a:solidFill>
                  <a:srgbClr val="202124"/>
                </a:solidFill>
              </a:defRPr>
            </a:lvl5pPr>
            <a:lvl6pPr algn="r">
              <a:defRPr sz="863" b="0">
                <a:solidFill>
                  <a:srgbClr val="202124"/>
                </a:solidFill>
              </a:defRPr>
            </a:lvl6pPr>
            <a:lvl7pPr algn="r">
              <a:defRPr sz="863" b="0">
                <a:solidFill>
                  <a:srgbClr val="202124"/>
                </a:solidFill>
              </a:defRPr>
            </a:lvl7pPr>
            <a:lvl8pPr algn="r">
              <a:defRPr sz="863" b="0">
                <a:solidFill>
                  <a:srgbClr val="202124"/>
                </a:solidFill>
              </a:defRPr>
            </a:lvl8pPr>
            <a:lvl9pPr algn="r">
              <a:defRPr sz="863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r">
              <a:defRPr sz="863" b="0">
                <a:solidFill>
                  <a:srgbClr val="202124"/>
                </a:solidFill>
              </a:defRPr>
            </a:pPr>
            <a:r>
              <a:rPr sz="863" b="0">
                <a:solidFill>
                  <a:srgbClr val="202124"/>
                </a:solidFill>
              </a:rPr>
              <a:t>二次开发  持续迭代</a:t>
            </a:r>
          </a:p>
        </p:txBody>
      </p:sp>
      <p:sp>
        <p:nvSpPr>
          <p:cNvPr id="30" name="sandbox-stack">
            <a:extLst xmlns:a="http://schemas.openxmlformats.org/drawingml/2006/main">
              <a:ext uri="{FF2B5EF4-FFF2-40B4-BE49-F238E27FC236}">
                <a16:creationId xmlns:a16="http://schemas.microsoft.com/office/drawing/2014/main" id="{5359C5BF-498B-4172-B23F-D19805D1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6686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02124"/>
                </a:solidFill>
              </a:defRPr>
            </a:defPPr>
            <a:lvl1pPr algn="l">
              <a:defRPr sz="885" b="0">
                <a:solidFill>
                  <a:srgbClr val="202124"/>
                </a:solidFill>
              </a:defRPr>
            </a:lvl1pPr>
            <a:lvl2pPr algn="l">
              <a:defRPr sz="885" b="0">
                <a:solidFill>
                  <a:srgbClr val="202124"/>
                </a:solidFill>
              </a:defRPr>
            </a:lvl2pPr>
            <a:lvl3pPr algn="l">
              <a:defRPr sz="885" b="0">
                <a:solidFill>
                  <a:srgbClr val="202124"/>
                </a:solidFill>
              </a:defRPr>
            </a:lvl3pPr>
            <a:lvl4pPr algn="l">
              <a:defRPr sz="885" b="0">
                <a:solidFill>
                  <a:srgbClr val="202124"/>
                </a:solidFill>
              </a:defRPr>
            </a:lvl4pPr>
            <a:lvl5pPr algn="l">
              <a:defRPr sz="885" b="0">
                <a:solidFill>
                  <a:srgbClr val="202124"/>
                </a:solidFill>
              </a:defRPr>
            </a:lvl5pPr>
            <a:lvl6pPr algn="l">
              <a:defRPr sz="885" b="0">
                <a:solidFill>
                  <a:srgbClr val="202124"/>
                </a:solidFill>
              </a:defRPr>
            </a:lvl6pPr>
            <a:lvl7pPr algn="l">
              <a:defRPr sz="885" b="0">
                <a:solidFill>
                  <a:srgbClr val="202124"/>
                </a:solidFill>
              </a:defRPr>
            </a:lvl7pPr>
            <a:lvl8pPr algn="l">
              <a:defRPr sz="885" b="0">
                <a:solidFill>
                  <a:srgbClr val="202124"/>
                </a:solidFill>
              </a:defRPr>
            </a:lvl8pPr>
            <a:lvl9pPr algn="l">
              <a:defRPr sz="88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技术栈  Python、FastAPI、Redis、Docker、nsjail、Lua、pytest</a:t>
            </a:r>
          </a:p>
        </p:txBody>
      </p:sp>
      <p:sp>
        <p:nvSpPr>
          <p:cNvPr id="31" name="sandbox-1">
            <a:extLst xmlns:a="http://schemas.openxmlformats.org/drawingml/2006/main">
              <a:ext uri="{FF2B5EF4-FFF2-40B4-BE49-F238E27FC236}">
                <a16:creationId xmlns:a16="http://schemas.microsoft.com/office/drawing/2014/main" id="{F7E70538-E186-4A4F-9CC5-2FB8327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基于 LibreCodeInterpreter 二次开发多租户代码执行平台，引入 Tenant、API Key 与资源配额模型，通过 Redis Lua 原子维护并发租约和日调用额度。</a:t>
            </a:r>
          </a:p>
        </p:txBody>
      </p:sp>
      <p:sp>
        <p:nvSpPr>
          <p:cNvPr id="32" name="sandbox-2">
            <a:extLst xmlns:a="http://schemas.openxmlformats.org/drawingml/2006/main">
              <a:ext uri="{FF2B5EF4-FFF2-40B4-BE49-F238E27FC236}">
                <a16:creationId xmlns:a16="http://schemas.microsoft.com/office/drawing/2014/main" id="{F01B2D55-6ABF-49EE-A380-CDD743A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完善租户级会话与文件隔离，阻止跨租户复用 Session、Entity ID 和文件引用；自动化测试覆盖认证、配额、隔离及 API 契约，553 项单元测试通过。</a:t>
            </a:r>
          </a:p>
        </p:txBody>
      </p:sp>
      <p:sp>
        <p:nvSpPr>
          <p:cNvPr id="33" name="sandbox-3">
            <a:extLst xmlns:a="http://schemas.openxmlformats.org/drawingml/2006/main">
              <a:ext uri="{FF2B5EF4-FFF2-40B4-BE49-F238E27FC236}">
                <a16:creationId xmlns:a16="http://schemas.microsoft.com/office/drawing/2014/main" id="{D23C1640-BFF0-43CD-94C3-B518A55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4855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搭建可重复压测体系，采集吞吐、p50/p95/p99、HTTP 429、容器 CPU/内存及预热池命中来源，修复 fresh sandbox 被误记为 pool hit 的观测缺陷。</a:t>
            </a:r>
          </a:p>
        </p:txBody>
      </p:sp>
      <p:sp>
        <p:nvSpPr>
          <p:cNvPr id="34" name="sandbox-4">
            <a:extLst xmlns:a="http://schemas.openxmlformats.org/drawingml/2006/main">
              <a:ext uri="{FF2B5EF4-FFF2-40B4-BE49-F238E27FC236}">
                <a16:creationId xmlns:a16="http://schemas.microsoft.com/office/drawing/2014/main" id="{E957FFD5-6A64-4E34-ADB1-DFC1F352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48600"/>
            <a:ext cx="662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70" b="0">
                <a:solidFill>
                  <a:srgbClr val="202124"/>
                </a:solidFill>
              </a:defRPr>
            </a:defPPr>
            <a:lvl1pPr algn="l">
              <a:defRPr sz="870" b="0">
                <a:solidFill>
                  <a:srgbClr val="202124"/>
                </a:solidFill>
              </a:defRPr>
            </a:lvl1pPr>
            <a:lvl2pPr algn="l">
              <a:defRPr sz="870" b="0">
                <a:solidFill>
                  <a:srgbClr val="202124"/>
                </a:solidFill>
              </a:defRPr>
            </a:lvl2pPr>
            <a:lvl3pPr algn="l">
              <a:defRPr sz="870" b="0">
                <a:solidFill>
                  <a:srgbClr val="202124"/>
                </a:solidFill>
              </a:defRPr>
            </a:lvl3pPr>
            <a:lvl4pPr algn="l">
              <a:defRPr sz="870" b="0">
                <a:solidFill>
                  <a:srgbClr val="202124"/>
                </a:solidFill>
              </a:defRPr>
            </a:lvl4pPr>
            <a:lvl5pPr algn="l">
              <a:defRPr sz="870" b="0">
                <a:solidFill>
                  <a:srgbClr val="202124"/>
                </a:solidFill>
              </a:defRPr>
            </a:lvl5pPr>
            <a:lvl6pPr algn="l">
              <a:defRPr sz="870" b="0">
                <a:solidFill>
                  <a:srgbClr val="202124"/>
                </a:solidFill>
              </a:defRPr>
            </a:lvl6pPr>
            <a:lvl7pPr algn="l">
              <a:defRPr sz="870" b="0">
                <a:solidFill>
                  <a:srgbClr val="202124"/>
                </a:solidFill>
              </a:defRPr>
            </a:lvl7pPr>
            <a:lvl8pPr algn="l">
              <a:defRPr sz="870" b="0">
                <a:solidFill>
                  <a:srgbClr val="202124"/>
                </a:solidFill>
              </a:defRPr>
            </a:lvl8pPr>
            <a:lvl9pPr algn="l">
              <a:defRPr sz="87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algn="l">
              <a:defRPr sz="870" b="0">
                <a:solidFill>
                  <a:srgbClr val="202124"/>
                </a:solidFill>
              </a:defRPr>
            </a:pPr>
            <a:r>
              <a:rPr sz="870" b="0">
                <a:solidFill>
                  <a:srgbClr val="202124"/>
                </a:solidFill>
              </a:rPr>
              <a:t>•  设计负载感知的自适应预热池并支持失效 REPL 自愈；在 2 CPU / 2 GiB 环境下吞吐提升 11.28%，p95/p99 降低 32.09%/32.17%，平均内存降低 34.11%。</a:t>
            </a:r>
          </a:p>
        </p:txBody>
      </p:sp>
      <p:sp>
        <p:nvSpPr>
          <p:cNvPr id="35" name="edit-note">
            <a:extLst xmlns:a="http://schemas.openxmlformats.org/drawingml/2006/main">
              <a:ext uri="{FF2B5EF4-FFF2-40B4-BE49-F238E27FC236}">
                <a16:creationId xmlns:a16="http://schemas.microsoft.com/office/drawing/2014/main" id="{2A14805B-5FFF-4785-80C8-D172BCE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96525"/>
            <a:ext cx="668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5F6368"/>
                </a:solidFill>
              </a:defRPr>
            </a:defPPr>
            <a:lvl1pPr algn="r">
              <a:defRPr sz="750" b="0">
                <a:solidFill>
                  <a:srgbClr val="5F6368"/>
                </a:solidFill>
              </a:defRPr>
            </a:lvl1pPr>
            <a:lvl2pPr algn="r">
              <a:defRPr sz="750" b="0">
                <a:solidFill>
                  <a:srgbClr val="5F6368"/>
                </a:solidFill>
              </a:defRPr>
            </a:lvl2pPr>
            <a:lvl3pPr algn="r">
              <a:defRPr sz="750" b="0">
                <a:solidFill>
                  <a:srgbClr val="5F6368"/>
                </a:solidFill>
              </a:defRPr>
            </a:lvl3pPr>
            <a:lvl4pPr algn="r">
              <a:defRPr sz="750" b="0">
                <a:solidFill>
                  <a:srgbClr val="5F6368"/>
                </a:solidFill>
              </a:defRPr>
            </a:lvl4pPr>
            <a:lvl5pPr algn="r">
              <a:defRPr sz="750" b="0">
                <a:solidFill>
                  <a:srgbClr val="5F6368"/>
                </a:solidFill>
              </a:defRPr>
            </a:lvl5pPr>
            <a:lvl6pPr algn="r">
              <a:defRPr sz="750" b="0">
                <a:solidFill>
                  <a:srgbClr val="5F6368"/>
                </a:solidFill>
              </a:defRPr>
            </a:lvl6pPr>
            <a:lvl7pPr algn="r">
              <a:defRPr sz="750" b="0">
                <a:solidFill>
                  <a:srgbClr val="5F6368"/>
                </a:solidFill>
              </a:defRPr>
            </a:lvl7pPr>
            <a:lvl8pPr algn="r">
              <a:defRPr sz="750" b="0">
                <a:solidFill>
                  <a:srgbClr val="5F6368"/>
                </a:solidFill>
              </a:defRPr>
            </a:lvl8pPr>
            <a:lvl9pPr algn="r">
              <a:defRPr sz="75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5F6368"/>
                </a:solidFill>
              </a:defRPr>
            </a:pPr>
            <a:r>
              <a:rPr sz="750" b="0">
                <a:solidFill>
                  <a:srgbClr val="5F6368"/>
                </a:solidFill>
              </a:rPr>
              <a:t>注  方括号字段为可编辑占位内容，投递前请替换</a:t>
            </a:r>
          </a:p>
        </p:txBody>
      </p:sp>
    </p:spTree>
    <p:extLst>
      <p:ext uri="{BB962C8B-B14F-4D97-AF65-F5344CB8AC3E}">
        <p14:creationId xmlns:p14="http://schemas.microsoft.com/office/powerpoint/2010/main" val="1235129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2026-10-28T04:04:42.6090000Z</dcterms:created>
  <dcterms:modified xsi:type="dcterms:W3CDTF">2026-10-28T04:04:42.6090000Z</dcterms:modified>
</coreProperties>
</file>